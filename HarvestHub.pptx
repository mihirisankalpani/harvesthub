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1" r:id="rId6"/>
    <p:sldId id="260" r:id="rId7"/>
    <p:sldId id="263" r:id="rId8"/>
    <p:sldId id="264" r:id="rId9"/>
    <p:sldId id="266" r:id="rId10"/>
    <p:sldId id="265" r:id="rId11"/>
    <p:sldId id="269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69F0C-5360-44E7-83D1-D825C3CE13FD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19AF6-CC7B-4581-BB4F-323CF197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62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19AF6-CC7B-4581-BB4F-323CF19762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71B3-F7B1-D551-DF02-1935FE82F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71B01-6CB3-94FF-47F8-98CB6F5B5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58C0B-9D1E-62C8-1012-A3EEFAA2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6FC72-69A1-0E44-05CA-481EEDE5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4ADA7-0AEF-2E56-2618-288F32A6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6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252B3-4C04-E490-C1E3-FDF3BE9C9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D9C3-F287-0BCE-1BE9-FD871CF7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EAE4-87A4-F8B2-4DA8-22C84A16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2A205-2D53-2B71-2909-F1FE48C5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89445-9308-2121-B4E8-2FFF9EFA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74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A27C-0B7B-E6B6-624B-1C1DF780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546A8-866B-7A0B-ECAF-112229312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5B7AD-CF0E-5036-A651-D1B0C1529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FFC4A-50A4-30A6-62DA-5434F71C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9B9EA-9397-B066-57C7-7389EFBF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0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9EEF-5E6B-7C59-1D47-9348D196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C257-6BF6-5017-B2CA-491205934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3B571-F5D4-52D2-34A3-49BCE13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DC4D6-FE10-89E7-ADC3-4CBDCDDCA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30FF1-527F-9BFC-3828-0980BD7B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A5BEA-9291-CB68-3E0B-8D581A71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B9B53-15C8-3199-4ADE-1D926F1C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DF302-2A4D-E3A7-6D7E-7BE29E5CD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E0390-A2BC-6C34-45E4-9F908167A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99EFE-AB4E-F14D-8CD7-C42DB2954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039FD-96E0-8FC5-251D-4818EFAF7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F45ED-2EB2-BD07-4DCD-C06879BF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9EA1B-63C8-088D-6F15-7E7AB75D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E4C08E-BAF0-903E-D3CB-2B697F86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1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C76C-89C9-C4E1-F2B2-DD08B578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895BE-0D68-E624-D95F-137559CF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92A00-0EBE-1DA8-6E87-078A07B2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E5656-1F5D-C745-C991-52FEAC5E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0CF2B-D180-8AAD-24A9-49879327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3A959-58F2-B0BA-31CE-9FCF6B12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5E1C6-888D-5BF4-6D67-5FFAF721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6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00D0-4009-8496-310D-77EF2129A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5DAE4-DE20-35E9-E9D5-5912DE30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6434F-BEEC-3C40-C337-FD1B76756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A4A6C-C5D3-96F1-46F6-0067816C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A99DB-5A56-0089-36F8-54E96256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956FB-185C-9B05-DE47-37709F21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54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B4F4-AF98-7C50-C995-4B130192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84AD1-27EA-C9A5-0331-BB076EE07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39548-41BE-20FD-6D65-77C3B66C2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01201-9867-F989-7097-5326036D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6DE1A-5E03-37F8-B56C-6E62CB5D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358FB-7B3F-B9D5-23FF-CC7F6662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6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CF19-C5DC-10B5-862D-6944E353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7DCA6-799A-B6FE-AD6F-02A5BBA5E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6301B-470A-2248-CC1F-F5FD9B43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2F09F-FB98-3A32-430E-40D53DC8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95760-FE47-FBA4-451A-12058EA6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7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4439E-63E0-42F2-225B-EE0C4F83D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3810E-2C37-A15D-379B-A8229D4CE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A258-6605-D8EC-3646-BA2A5FF7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BBA91-A2F7-AF12-A48F-48860EFB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960D-EFBF-E39A-D802-F80384B2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ixabay.com/en/corn-field-cornfield-agriculture-1908474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E1DB1-9F2A-D003-149B-D7087C688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AE927-485D-C687-BEA8-D183F7F3A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AF9BA-38B9-D182-274F-E0C743267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89942-F1BC-4D63-A253-EA95DC2114F2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8857E-8F7B-C448-7D35-3F9BE7D33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C66B6-9108-8D05-047D-9FFE727D8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4B7B7-5BF6-4F8E-A9E5-AD38B565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0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15EB8-1941-2659-B67F-73CB948F2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579" y="772127"/>
            <a:ext cx="8334704" cy="2843431"/>
          </a:xfrm>
        </p:spPr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bg1"/>
                </a:solidFill>
                <a:effectLst>
                  <a:glow rad="152400">
                    <a:schemeClr val="tx1"/>
                  </a:glow>
                </a:effectLst>
                <a:latin typeface="Agency FB" panose="020B0503020202020204" pitchFamily="34" charset="0"/>
                <a:cs typeface="Dubai Light" panose="020B0303030403030204" pitchFamily="34" charset="-78"/>
              </a:rPr>
              <a:t>HarvestHub</a:t>
            </a:r>
            <a:r>
              <a:rPr lang="en-US" sz="8000" b="1" dirty="0">
                <a:solidFill>
                  <a:schemeClr val="bg1"/>
                </a:solidFill>
                <a:effectLst>
                  <a:glow rad="152400">
                    <a:schemeClr val="tx1"/>
                  </a:glow>
                </a:effectLst>
                <a:latin typeface="Agency FB" panose="020B0503020202020204" pitchFamily="34" charset="0"/>
                <a:cs typeface="Dubai Light" panose="020B0303030403030204" pitchFamily="34" charset="-78"/>
              </a:rPr>
              <a:t> </a:t>
            </a:r>
            <a:br>
              <a:rPr lang="en-US" sz="8000" b="1" dirty="0">
                <a:solidFill>
                  <a:schemeClr val="bg1"/>
                </a:solidFill>
                <a:effectLst>
                  <a:glow rad="152400">
                    <a:schemeClr val="tx1"/>
                  </a:glow>
                </a:effectLst>
                <a:latin typeface="Agency FB" panose="020B0503020202020204" pitchFamily="34" charset="0"/>
                <a:cs typeface="Dubai Light" panose="020B0303030403030204" pitchFamily="34" charset="-78"/>
              </a:rPr>
            </a:br>
            <a:r>
              <a:rPr lang="en-US" sz="6600" b="1" dirty="0">
                <a:solidFill>
                  <a:schemeClr val="bg1"/>
                </a:solidFill>
                <a:effectLst>
                  <a:glow rad="152400">
                    <a:schemeClr val="tx1"/>
                  </a:glow>
                </a:effectLst>
                <a:latin typeface="Agency FB" panose="020B0503020202020204" pitchFamily="34" charset="0"/>
                <a:cs typeface="Dubai Light" panose="020B0303030403030204" pitchFamily="34" charset="-78"/>
              </a:rPr>
              <a:t>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566D4-D996-3E38-3825-87C6EB7D2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220" y="3864796"/>
            <a:ext cx="9144000" cy="1655762"/>
          </a:xfrm>
          <a:effectLst>
            <a:glow rad="63500">
              <a:schemeClr val="bg1"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635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Bridging Farmers and Consumers for Sustainable Agriculture</a:t>
            </a:r>
          </a:p>
        </p:txBody>
      </p:sp>
    </p:spTree>
    <p:extLst>
      <p:ext uri="{BB962C8B-B14F-4D97-AF65-F5344CB8AC3E}">
        <p14:creationId xmlns:p14="http://schemas.microsoft.com/office/powerpoint/2010/main" val="427241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A22C-01ED-347E-8B62-1168C8EB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glow rad="38100">
                    <a:schemeClr val="bg1"/>
                  </a:glow>
                </a:effectLst>
              </a:rPr>
              <a:t>We are group 08: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2E761-E295-06EB-8740-867429657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98149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G.G.N.Piyumika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 - D/ICT/24/0061 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W.P.T.Mihiri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 Sankalpani - D/ICT/24/0009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I.P.K.D.Rajapaksha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 - D/ICT/24/0032 </a:t>
            </a:r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W.V.P.K.Heshan</a:t>
            </a:r>
            <a:r>
              <a:rPr lang="en-US" dirty="0">
                <a:solidFill>
                  <a:schemeClr val="bg1"/>
                </a:solidFill>
                <a:effectLst>
                  <a:glow rad="63500">
                    <a:schemeClr val="tx1">
                      <a:alpha val="95000"/>
                    </a:schemeClr>
                  </a:glow>
                </a:effectLst>
              </a:rPr>
              <a:t> - D/ICT/24/0074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FAAF2-61AD-ABFC-74CC-8A08DD658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50778" y="0"/>
            <a:ext cx="4056994" cy="4519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0712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2BF2-2094-0A8E-AB9F-140AA786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2770" y="2072782"/>
            <a:ext cx="10142484" cy="2280745"/>
          </a:xfrm>
          <a:ln>
            <a:solidFill>
              <a:schemeClr val="bg1">
                <a:lumMod val="95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4800" b="0" i="0" dirty="0">
                <a:solidFill>
                  <a:schemeClr val="bg1"/>
                </a:solidFill>
                <a:effectLst>
                  <a:glow rad="63500">
                    <a:schemeClr val="tx1">
                      <a:alpha val="97000"/>
                    </a:schemeClr>
                  </a:glow>
                </a:effectLst>
                <a:latin typeface="Agency FB" panose="020B0503020202020204" pitchFamily="34" charset="0"/>
              </a:rPr>
              <a:t>At </a:t>
            </a:r>
            <a:r>
              <a:rPr lang="en-US" sz="4800" b="0" i="0" dirty="0" err="1">
                <a:solidFill>
                  <a:schemeClr val="bg1"/>
                </a:solidFill>
                <a:effectLst>
                  <a:glow rad="63500">
                    <a:schemeClr val="tx1">
                      <a:alpha val="97000"/>
                    </a:schemeClr>
                  </a:glow>
                </a:effectLst>
                <a:latin typeface="Agency FB" panose="020B0503020202020204" pitchFamily="34" charset="0"/>
              </a:rPr>
              <a:t>HarvestHub</a:t>
            </a:r>
            <a:r>
              <a:rPr lang="en-US" sz="4800" b="0" i="0" dirty="0">
                <a:solidFill>
                  <a:schemeClr val="bg1"/>
                </a:solidFill>
                <a:effectLst>
                  <a:glow rad="63500">
                    <a:schemeClr val="tx1">
                      <a:alpha val="97000"/>
                    </a:schemeClr>
                  </a:glow>
                </a:effectLst>
                <a:latin typeface="Agency FB" panose="020B0503020202020204" pitchFamily="34" charset="0"/>
              </a:rPr>
              <a:t>, we bridge the gap between farmers and consumers by offering a simple, direct way to buy and sell fresh, local produce. </a:t>
            </a:r>
            <a:endParaRPr lang="en-US" sz="4800" dirty="0">
              <a:solidFill>
                <a:schemeClr val="bg1"/>
              </a:solidFill>
              <a:effectLst>
                <a:glow rad="63500">
                  <a:schemeClr val="tx1">
                    <a:alpha val="97000"/>
                  </a:schemeClr>
                </a:glow>
              </a:effectLst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43085-FD55-0E42-432B-6DBAE6548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213217"/>
            <a:ext cx="9144000" cy="74924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1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BBD6-DF3E-BE60-3C45-E4159846C9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b="1" i="0" u="sng" dirty="0">
                <a:solidFill>
                  <a:schemeClr val="accent4"/>
                </a:solidFill>
                <a:effectLst>
                  <a:glow rad="63500">
                    <a:schemeClr val="tx1">
                      <a:alpha val="85000"/>
                    </a:schemeClr>
                  </a:glow>
                </a:effectLst>
                <a:latin typeface="Arial" panose="020B0604020202020204" pitchFamily="34" charset="0"/>
              </a:rPr>
              <a:t>Our Mission</a:t>
            </a:r>
            <a:br>
              <a:rPr lang="en-US" b="1" i="0" u="sng" dirty="0">
                <a:solidFill>
                  <a:schemeClr val="accent4"/>
                </a:solidFill>
                <a:effectLst>
                  <a:glow rad="63500">
                    <a:schemeClr val="tx1">
                      <a:alpha val="40000"/>
                    </a:schemeClr>
                  </a:glow>
                </a:effectLst>
                <a:latin typeface="Arial" panose="020B0604020202020204" pitchFamily="34" charset="0"/>
              </a:rPr>
            </a:br>
            <a:endParaRPr lang="en-US" u="sng" dirty="0">
              <a:solidFill>
                <a:schemeClr val="accent4"/>
              </a:solidFill>
              <a:effectLst>
                <a:glow rad="635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FEF9-9BCC-82B7-FF30-6CC09E903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3696" y="3118561"/>
            <a:ext cx="9501351" cy="2168141"/>
          </a:xfrm>
        </p:spPr>
        <p:txBody>
          <a:bodyPr>
            <a:noAutofit/>
          </a:bodyPr>
          <a:lstStyle/>
          <a:p>
            <a:r>
              <a:rPr lang="en-US" sz="3600" b="0" i="0" dirty="0">
                <a:solidFill>
                  <a:schemeClr val="bg1"/>
                </a:solidFill>
                <a:effectLst>
                  <a:glow rad="63500">
                    <a:schemeClr val="tx1">
                      <a:alpha val="82000"/>
                    </a:schemeClr>
                  </a:glow>
                </a:effectLst>
                <a:latin typeface="Agency FB" panose="020B0503020202020204" pitchFamily="34" charset="0"/>
              </a:rPr>
              <a:t>Our mission is to support sustainable agriculture while providing consumers with high-quality, organic products directly from the source.</a:t>
            </a:r>
            <a:endParaRPr lang="en-US" sz="3600" dirty="0">
              <a:solidFill>
                <a:schemeClr val="bg1"/>
              </a:solidFill>
              <a:effectLst>
                <a:glow rad="63500">
                  <a:schemeClr val="tx1">
                    <a:alpha val="82000"/>
                  </a:schemeClr>
                </a:glow>
              </a:effectLst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0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9975-8B21-64AF-AAED-49AEE9C0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glow rad="63500">
                    <a:schemeClr val="bg1">
                      <a:alpha val="40000"/>
                    </a:schemeClr>
                  </a:glow>
                </a:effectLst>
              </a:rPr>
              <a:t>Our Goals: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57B07-E35A-EE09-67B3-48F53EDE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476" y="1418897"/>
            <a:ext cx="10870324" cy="4758066"/>
          </a:xfrm>
        </p:spPr>
        <p:txBody>
          <a:bodyPr>
            <a:normAutofit fontScale="85000" lnSpcReduction="20000"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Support Local Farmers </a:t>
            </a:r>
            <a:r>
              <a:rPr lang="en-US" sz="2400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- </a:t>
            </a:r>
            <a:r>
              <a:rPr lang="en-US" sz="2400" dirty="0">
                <a:solidFill>
                  <a:schemeClr val="bg1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Provide small and medium-sized farmers with a platform to market and sell their products directly to consumers without relying on middlemen.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 Promote Sustainable Agriculture - </a:t>
            </a:r>
            <a:r>
              <a:rPr lang="en-US" sz="2500" dirty="0">
                <a:solidFill>
                  <a:schemeClr val="bg1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Encourage environmentally-friendly farming practices by connecting consumers with organic and sustainably grown produce.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Offer Fresh, High-Quality Products - </a:t>
            </a:r>
            <a:r>
              <a:rPr lang="en-US" sz="2500" dirty="0">
                <a:solidFill>
                  <a:schemeClr val="bg1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Give consumers easy access to fresh, organic, and local produce, delivered straight from the farm to their table.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Strengthen Local Economies - </a:t>
            </a:r>
            <a:r>
              <a:rPr lang="en-US" sz="2500" dirty="0">
                <a:solidFill>
                  <a:schemeClr val="bg1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Support local economies by encouraging consumers to buy locally, keeping money within the community.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Simplify the Buying Process - </a:t>
            </a:r>
            <a:r>
              <a:rPr lang="en-US" sz="2500" dirty="0">
                <a:solidFill>
                  <a:schemeClr val="bg1"/>
                </a:solidFill>
                <a:effectLst>
                  <a:glow rad="101600">
                    <a:schemeClr val="tx1">
                      <a:alpha val="88000"/>
                    </a:schemeClr>
                  </a:glow>
                </a:effectLst>
              </a:rPr>
              <a:t>Make it easy for consumers to purchase local produce through an intuitive, user-friendly interface that streamlines the shopping experience.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en-US" sz="2000" b="1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1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A0E2-28BA-7C46-B0F0-4F90E29EE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313067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00"/>
                </a:solidFill>
                <a:effectLst>
                  <a:glow rad="114300">
                    <a:schemeClr val="tx1">
                      <a:alpha val="82000"/>
                    </a:schemeClr>
                  </a:glow>
                </a:effectLst>
              </a:rPr>
              <a:t>How </a:t>
            </a:r>
            <a:r>
              <a:rPr lang="en-US" sz="4800" b="1" dirty="0" err="1">
                <a:solidFill>
                  <a:srgbClr val="FFFF00"/>
                </a:solidFill>
                <a:effectLst>
                  <a:glow rad="114300">
                    <a:schemeClr val="tx1">
                      <a:alpha val="82000"/>
                    </a:schemeClr>
                  </a:glow>
                </a:effectLst>
              </a:rPr>
              <a:t>HarvestHub</a:t>
            </a:r>
            <a:r>
              <a:rPr lang="en-US" sz="4800" b="1" dirty="0">
                <a:solidFill>
                  <a:srgbClr val="FFFF00"/>
                </a:solidFill>
                <a:effectLst>
                  <a:glow rad="114300">
                    <a:schemeClr val="tx1">
                      <a:alpha val="82000"/>
                    </a:schemeClr>
                  </a:glow>
                </a:effectLst>
              </a:rPr>
              <a:t> Works..??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EA1D9-94DB-285F-B0B3-0E3F62C7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9103" y="3142101"/>
            <a:ext cx="9595946" cy="249144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effectLst>
                  <a:glow rad="63500">
                    <a:schemeClr val="tx1">
                      <a:alpha val="77000"/>
                    </a:schemeClr>
                  </a:glow>
                </a:effectLst>
                <a:latin typeface="Aptos" panose="020B0004020202020204" pitchFamily="34" charset="0"/>
              </a:rPr>
              <a:t>P</a:t>
            </a:r>
            <a:r>
              <a:rPr lang="en-US" sz="2800" dirty="0">
                <a:solidFill>
                  <a:schemeClr val="bg1"/>
                </a:solidFill>
                <a:effectLst>
                  <a:glow rad="63500">
                    <a:schemeClr val="tx1">
                      <a:alpha val="77000"/>
                    </a:schemeClr>
                  </a:glow>
                </a:effectLst>
                <a:latin typeface="Aptos" panose="020B0004020202020204" pitchFamily="34" charset="0"/>
              </a:rPr>
              <a:t>rovide a brief overview of how the platform allows consumers to buy directly from local farmers, supporting sustainable agriculture and local economies.</a:t>
            </a:r>
          </a:p>
        </p:txBody>
      </p:sp>
    </p:spTree>
    <p:extLst>
      <p:ext uri="{BB962C8B-B14F-4D97-AF65-F5344CB8AC3E}">
        <p14:creationId xmlns:p14="http://schemas.microsoft.com/office/powerpoint/2010/main" val="396214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C0B6-E733-914D-BED0-6A1FE1CD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06" y="81420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effectLst>
                  <a:glow rad="114300">
                    <a:schemeClr val="tx1">
                      <a:alpha val="98000"/>
                    </a:schemeClr>
                  </a:glow>
                </a:effectLst>
              </a:rPr>
              <a:t>Target Audience: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86F8B2-2C82-8C6D-281D-8F85818DD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579" y="2139767"/>
            <a:ext cx="1034205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Farmers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Small to medium-sized organic farmers who want a direct channel to sell their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glow rad="63500">
                  <a:schemeClr val="tx1">
                    <a:alpha val="81000"/>
                  </a:schemeClr>
                </a:glo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Health-conscious consumers, families, or individuals interested in organic and local food.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glow rad="63500">
                  <a:schemeClr val="tx1">
                    <a:alpha val="81000"/>
                  </a:schemeClr>
                </a:glow>
              </a:effectLs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Sustainability Advocates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tx1">
                      <a:alpha val="81000"/>
                    </a:schemeClr>
                  </a:glow>
                </a:effectLst>
                <a:latin typeface="Arial" panose="020B0604020202020204" pitchFamily="34" charset="0"/>
              </a:rPr>
              <a:t>People who care about the environment   and local economies.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26A0A1C-D72A-ECCD-7444-4442CDE4C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64"/>
            <a:ext cx="22442" cy="9747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4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4F1B-00B4-6818-C7E0-0D44FD98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glow rad="50800">
                    <a:schemeClr val="bg1"/>
                  </a:glow>
                </a:effectLst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D55C-7DB1-9BA4-E268-947814C8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CSS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JavaScript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Chatgpt</a:t>
            </a:r>
            <a:endParaRPr lang="en-US" b="1" dirty="0">
              <a:solidFill>
                <a:schemeClr val="accent4"/>
              </a:solidFill>
              <a:effectLst>
                <a:glow rad="88900">
                  <a:schemeClr val="tx1">
                    <a:alpha val="95000"/>
                  </a:schemeClr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 </a:t>
            </a:r>
            <a:r>
              <a:rPr lang="en-US" b="1" dirty="0" err="1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Youtube</a:t>
            </a:r>
            <a:endParaRPr lang="en-US" b="1" dirty="0">
              <a:solidFill>
                <a:schemeClr val="accent4"/>
              </a:solidFill>
              <a:effectLst>
                <a:glow rad="88900">
                  <a:schemeClr val="tx1">
                    <a:alpha val="95000"/>
                  </a:schemeClr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>
                      <a:alpha val="95000"/>
                    </a:schemeClr>
                  </a:glow>
                </a:effectLst>
              </a:rPr>
              <a:t>W3 school</a:t>
            </a:r>
          </a:p>
        </p:txBody>
      </p:sp>
    </p:spTree>
    <p:extLst>
      <p:ext uri="{BB962C8B-B14F-4D97-AF65-F5344CB8AC3E}">
        <p14:creationId xmlns:p14="http://schemas.microsoft.com/office/powerpoint/2010/main" val="248244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2527-0200-C0AE-95AA-E41BCCCC1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38" y="154918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4"/>
                </a:solidFill>
                <a:effectLst>
                  <a:glow rad="63500">
                    <a:schemeClr val="tx1">
                      <a:alpha val="72000"/>
                    </a:schemeClr>
                  </a:glow>
                </a:effectLst>
              </a:rPr>
              <a:t>Here are some problem statements we had faced while creating the </a:t>
            </a:r>
            <a:r>
              <a:rPr lang="en-US" sz="2400" b="1" dirty="0" err="1">
                <a:solidFill>
                  <a:schemeClr val="accent4"/>
                </a:solidFill>
                <a:effectLst>
                  <a:glow rad="63500">
                    <a:schemeClr val="tx1">
                      <a:alpha val="72000"/>
                    </a:schemeClr>
                  </a:glow>
                </a:effectLst>
              </a:rPr>
              <a:t>HarvestHub</a:t>
            </a:r>
            <a:r>
              <a:rPr lang="en-US" sz="2400" b="1" dirty="0">
                <a:solidFill>
                  <a:schemeClr val="accent4"/>
                </a:solidFill>
                <a:effectLst>
                  <a:glow rad="63500">
                    <a:schemeClr val="tx1">
                      <a:alpha val="72000"/>
                    </a:schemeClr>
                  </a:glow>
                </a:effectLst>
              </a:rPr>
              <a:t> website, along with the solutions that helped overcome them: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78055-AE6A-F191-28CE-49BF42F22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81655"/>
            <a:ext cx="11624441" cy="49083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glow rad="76200">
                    <a:schemeClr val="bg1"/>
                  </a:glow>
                </a:effectLst>
              </a:rPr>
              <a:t>1.Farmers Struggling with Technology </a:t>
            </a:r>
            <a:r>
              <a:rPr lang="en-US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- </a:t>
            </a:r>
            <a:r>
              <a:rPr lang="en-US" sz="29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Many farmers aren’t used to using technology and found it hard to manage their profiles and products online.</a:t>
            </a:r>
          </a:p>
          <a:p>
            <a:pPr marL="0" indent="0">
              <a:buNone/>
            </a:pPr>
            <a:r>
              <a:rPr lang="en-US" sz="2900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sz="2900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: </a:t>
            </a:r>
            <a:r>
              <a:rPr lang="en-US" sz="29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We made the dashboard super simple, with clear buttons and easy-to-follow steps. We also added video guides and customer support to help them out.</a:t>
            </a:r>
          </a:p>
          <a:p>
            <a:pPr marL="0" indent="0">
              <a:buNone/>
            </a:pPr>
            <a:endParaRPr lang="en-US" sz="2900" dirty="0">
              <a:solidFill>
                <a:schemeClr val="bg1"/>
              </a:solidFill>
              <a:effectLst>
                <a:glow rad="88900">
                  <a:schemeClr val="tx1"/>
                </a:glo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glow rad="76200">
                    <a:schemeClr val="bg1"/>
                  </a:glow>
                </a:effectLst>
              </a:rPr>
              <a:t>2.Setting Up Smooth Online Shopping- </a:t>
            </a:r>
            <a:r>
              <a:rPr lang="en-US" sz="29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Getting the website’s shopping and payment system to work seamlessly was tricky.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: </a:t>
            </a:r>
            <a:r>
              <a:rPr lang="en-US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We used reliable tools like Stripe and PayPal to handle payments safely and smoothly. We also added real-time inventory updates so customers don’t buy something that’s out of stock.</a:t>
            </a:r>
          </a:p>
          <a:p>
            <a:pPr marL="0" indent="0">
              <a:buNone/>
            </a:pPr>
            <a:endParaRPr lang="en-US" sz="3200" b="1" dirty="0">
              <a:solidFill>
                <a:schemeClr val="bg1"/>
              </a:solidFill>
              <a:effectLst>
                <a:glow rad="88900">
                  <a:schemeClr val="tx1"/>
                </a:glo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glow rad="76200">
                    <a:schemeClr val="bg1"/>
                  </a:glow>
                </a:effectLst>
              </a:rPr>
              <a:t>3.Organizing Different Products and Farms</a:t>
            </a:r>
            <a:r>
              <a:rPr lang="en-US" b="1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 </a:t>
            </a:r>
            <a:r>
              <a:rPr lang="en-US" sz="29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- Each farm offers different produce, and it was tough to organize all this info.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sz="26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:.</a:t>
            </a:r>
            <a:r>
              <a:rPr lang="en-US" sz="29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 We created a simple system that categorizes products by farm, type, and availability. We also added filters so customers can easily find what they’re looking fo</a:t>
            </a:r>
            <a:r>
              <a:rPr lang="en-US" sz="26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8170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CC10-02CD-5E4F-F4CF-D30419A56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2EEBD-1265-2625-2166-586B5133E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842" y="1122363"/>
            <a:ext cx="11498316" cy="1927280"/>
          </a:xfrm>
        </p:spPr>
        <p:txBody>
          <a:bodyPr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8800" b="1" dirty="0">
                <a:effectLst>
                  <a:glow rad="76200">
                    <a:schemeClr val="bg1"/>
                  </a:glow>
                </a:effectLst>
              </a:rPr>
              <a:t>4.Building Trust Between Farmers and Shoppers</a:t>
            </a:r>
            <a:r>
              <a:rPr lang="en-US" sz="8800" b="1" dirty="0">
                <a:solidFill>
                  <a:schemeClr val="bg1"/>
                </a:solidFill>
                <a:effectLst>
                  <a:glow rad="76200">
                    <a:schemeClr val="bg1"/>
                  </a:glow>
                </a:effectLst>
              </a:rPr>
              <a:t>-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Since consumers didn’t know the farmers personally, they needed a way to trust the quality of the produce.</a:t>
            </a:r>
          </a:p>
          <a:p>
            <a:pPr marL="0" indent="0" algn="l">
              <a:buNone/>
            </a:pPr>
            <a:r>
              <a:rPr lang="en-US" sz="8800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sz="8800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: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We created detailed farmer profiles where they can share their story, farming methods, and even pictures. Plus, we added customer reviews to help build trust.</a:t>
            </a:r>
          </a:p>
          <a:p>
            <a:pPr marL="0" indent="0" algn="l">
              <a:buNone/>
            </a:pPr>
            <a:endParaRPr lang="en-US" sz="8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800" b="1" dirty="0">
                <a:effectLst>
                  <a:glow rad="127000">
                    <a:schemeClr val="bg1">
                      <a:alpha val="77000"/>
                    </a:schemeClr>
                  </a:glow>
                </a:effectLst>
              </a:rPr>
              <a:t>5.Making the Website Work Well on Mobile-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Many people use their phones to shop, so the website needed to work smoothly on mobile devices.</a:t>
            </a:r>
          </a:p>
          <a:p>
            <a:pPr algn="l"/>
            <a:r>
              <a:rPr lang="en-US" sz="8800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sz="8800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: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We used responsive design to ensure the site looks great and works well on any screen size. We also tested it on multiple devices to catch any issues early.</a:t>
            </a:r>
          </a:p>
          <a:p>
            <a:pPr marL="0" indent="0" algn="l">
              <a:buNone/>
            </a:pPr>
            <a:endParaRPr lang="en-US" sz="8800" dirty="0">
              <a:solidFill>
                <a:schemeClr val="bg1"/>
              </a:solidFill>
              <a:effectLst>
                <a:glow rad="88900">
                  <a:schemeClr val="tx1"/>
                </a:glow>
              </a:effectLst>
            </a:endParaRPr>
          </a:p>
          <a:p>
            <a:pPr marL="0" indent="0" algn="l">
              <a:buNone/>
            </a:pPr>
            <a:endParaRPr lang="en-US" sz="8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8800" b="1" dirty="0">
                <a:effectLst>
                  <a:glow rad="88900">
                    <a:schemeClr val="bg1">
                      <a:lumMod val="95000"/>
                      <a:alpha val="81000"/>
                    </a:schemeClr>
                  </a:glow>
                </a:effectLst>
              </a:rPr>
              <a:t>6.Educating Consumers About </a:t>
            </a:r>
            <a:r>
              <a:rPr lang="en-US" sz="8800" b="1" dirty="0">
                <a:effectLst>
                  <a:glow rad="88900">
                    <a:schemeClr val="bg1">
                      <a:lumMod val="95000"/>
                      <a:alpha val="95000"/>
                    </a:schemeClr>
                  </a:glow>
                </a:effectLst>
              </a:rPr>
              <a:t>Buying</a:t>
            </a:r>
            <a:r>
              <a:rPr lang="en-US" sz="8800" b="1" dirty="0">
                <a:effectLst>
                  <a:glow rad="88900">
                    <a:schemeClr val="bg1">
                      <a:lumMod val="95000"/>
                      <a:alpha val="81000"/>
                    </a:schemeClr>
                  </a:glow>
                </a:effectLst>
              </a:rPr>
              <a:t> Local-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Not all consumers know why it’s important to buy locally grown, organic produce.</a:t>
            </a:r>
          </a:p>
          <a:p>
            <a:pPr algn="l"/>
            <a:r>
              <a:rPr lang="en-US" sz="8800" b="1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Solution</a:t>
            </a:r>
            <a:r>
              <a:rPr lang="en-US" sz="8800" dirty="0">
                <a:solidFill>
                  <a:schemeClr val="accent4"/>
                </a:solidFill>
                <a:effectLst>
                  <a:glow rad="88900">
                    <a:schemeClr val="tx1"/>
                  </a:glow>
                </a:effectLst>
              </a:rPr>
              <a:t>: </a:t>
            </a:r>
            <a:r>
              <a:rPr lang="en-US" sz="8800" dirty="0">
                <a:solidFill>
                  <a:schemeClr val="bg1"/>
                </a:solidFill>
                <a:effectLst>
                  <a:glow rad="88900">
                    <a:schemeClr val="tx1"/>
                  </a:glow>
                </a:effectLst>
              </a:rPr>
              <a:t>We added a blog and resource section with easy-to-read articles, videos, and infographics explaining the benefits of local, organic farming.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6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D6CE-A815-C250-2A62-E01249311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>
                <a:solidFill>
                  <a:schemeClr val="accent2"/>
                </a:solidFill>
                <a:effectLst>
                  <a:glow rad="127000">
                    <a:schemeClr val="tx1"/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Pages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A708-9BFF-78C2-8F2E-8B57831F8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56" y="1427929"/>
            <a:ext cx="11016154" cy="500440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Home Page: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Highlight some of the fresh produce, with a clean and attractive layout.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Product Listing Page: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Display the available produce with filters for categories (fruits, vegetables, grains).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Product Detail Page: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 Show individual product details, including price, farmer, and availability.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Farmer Profile Page: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Showcase farmer information, including their produce listings and reviews.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Sign In/Sign Up Pages: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Allow both farmers and buyers to sign in or create accounts.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Cart and Checkout Pages: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Let buyers add items to a cart, review them, and proceed to check out.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Order Confirmation Page: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Confirm orders after checkout.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Buyer Account Page: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 Show order history and allow the buyer to edit their profile. </a:t>
            </a:r>
          </a:p>
          <a:p>
            <a:r>
              <a:rPr lang="en-US" dirty="0">
                <a:solidFill>
                  <a:schemeClr val="accent4"/>
                </a:solidFill>
                <a:effectLst>
                  <a:glow rad="127000">
                    <a:schemeClr val="tx1"/>
                  </a:glow>
                </a:effectLst>
              </a:rPr>
              <a:t> Contact Us and About Us Pages: 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Standard pages providing contact information and explaining the purpose of </a:t>
            </a:r>
            <a:r>
              <a:rPr lang="en-US" dirty="0" err="1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HarvestHub</a:t>
            </a:r>
            <a:r>
              <a:rPr lang="en-US" dirty="0"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490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D48A-EC60-0C81-08E4-E6DA95CF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effectLst>
                  <a:glow rad="25400">
                    <a:schemeClr val="bg1"/>
                  </a:glow>
                </a:effectLst>
                <a:latin typeface="+mn-lt"/>
              </a:rPr>
              <a:t>These are our roles &amp; contributions…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12E6-2760-C9FD-2E3A-D6897A85E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/>
                  </a:glow>
                </a:effectLst>
              </a:rPr>
              <a:t>Home Page &amp; Sign In/Sign Up Pages &amp; Contact Us and About us Pages 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are created by 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G.G.N.Piyumika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/>
                </a:glow>
              </a:effectLst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/>
                  </a:glow>
                </a:effectLst>
              </a:rPr>
              <a:t>Product Listing Page &amp; Product Detail Page 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are created by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   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W.P.T.Mihiri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 Sankalpani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/>
                  </a:glow>
                </a:effectLst>
              </a:rPr>
              <a:t>Cart and Checkout Pages &amp; Order Confirmation Page 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are created by 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I.P.K.D.Rajapaksha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/>
                </a:glow>
              </a:effectLst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4"/>
                </a:solidFill>
                <a:effectLst>
                  <a:glow rad="101600">
                    <a:schemeClr val="tx1"/>
                  </a:glow>
                </a:effectLst>
              </a:rPr>
              <a:t>Farmer Profile Page &amp; Buyer Account Page </a:t>
            </a:r>
            <a:r>
              <a:rPr lang="en-US" dirty="0" err="1">
                <a:solidFill>
                  <a:schemeClr val="accent4"/>
                </a:solidFill>
                <a:effectLst>
                  <a:glow rad="101600">
                    <a:schemeClr val="tx1"/>
                  </a:glow>
                </a:effectLst>
              </a:rPr>
              <a:t>Page</a:t>
            </a:r>
            <a:r>
              <a:rPr lang="en-US" dirty="0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 are created by  </a:t>
            </a:r>
            <a:r>
              <a:rPr lang="en-US" dirty="0" err="1">
                <a:solidFill>
                  <a:schemeClr val="bg1"/>
                </a:solidFill>
                <a:effectLst>
                  <a:glow rad="101600">
                    <a:schemeClr val="tx1"/>
                  </a:glow>
                </a:effectLst>
              </a:rPr>
              <a:t>W.V.P.K.Heshan</a:t>
            </a:r>
            <a:endParaRPr lang="en-US" dirty="0">
              <a:solidFill>
                <a:schemeClr val="bg1"/>
              </a:solidFill>
              <a:effectLst>
                <a:glow rad="101600">
                  <a:schemeClr val="tx1"/>
                </a:glow>
              </a:effectLst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096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C73A-DA3E-07D8-3055-8466B5D4C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8721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accent4"/>
                </a:solidFill>
                <a:effectLst>
                  <a:glow rad="76200">
                    <a:schemeClr val="tx1"/>
                  </a:glow>
                </a:effectLst>
                <a:latin typeface="Algerian" panose="04020705040A02060702" pitchFamily="82" charset="0"/>
              </a:rPr>
              <a:t>Thank you..!!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08B45-E40F-B0C5-DB68-B6B382464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0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940</Words>
  <Application>Microsoft Office PowerPoint</Application>
  <PresentationFormat>Widescreen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Agency FB</vt:lpstr>
      <vt:lpstr>Algerian</vt:lpstr>
      <vt:lpstr>Aptos</vt:lpstr>
      <vt:lpstr>Arial</vt:lpstr>
      <vt:lpstr>Calibri</vt:lpstr>
      <vt:lpstr>Calibri Light</vt:lpstr>
      <vt:lpstr>Wingdings</vt:lpstr>
      <vt:lpstr>Office Theme</vt:lpstr>
      <vt:lpstr>HarvestHub  Website</vt:lpstr>
      <vt:lpstr>We are group 08:</vt:lpstr>
      <vt:lpstr>At HarvestHub, we bridge the gap between farmers and consumers by offering a simple, direct way to buy and sell fresh, local produce. </vt:lpstr>
      <vt:lpstr>Our Mission </vt:lpstr>
      <vt:lpstr>Our Goals:</vt:lpstr>
      <vt:lpstr>How HarvestHub Works..??</vt:lpstr>
      <vt:lpstr>Target Audience:</vt:lpstr>
      <vt:lpstr>Technologies Used</vt:lpstr>
      <vt:lpstr>Here are some problem statements we had faced while creating the HarvestHub website, along with the solutions that helped overcome them:</vt:lpstr>
      <vt:lpstr>PowerPoint Presentation</vt:lpstr>
      <vt:lpstr>Pages and Features</vt:lpstr>
      <vt:lpstr>These are our roles &amp; contributions…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WPTM Sankalpani</dc:creator>
  <cp:lastModifiedBy>WPTM Sankalpani</cp:lastModifiedBy>
  <cp:revision>19</cp:revision>
  <dcterms:created xsi:type="dcterms:W3CDTF">2024-10-21T15:26:11Z</dcterms:created>
  <dcterms:modified xsi:type="dcterms:W3CDTF">2024-10-21T18:02:14Z</dcterms:modified>
</cp:coreProperties>
</file>